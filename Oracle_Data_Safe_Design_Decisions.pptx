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notesMasterIdLst>
    <p:notesMasterId r:id="rId6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oracle.com/en/cloud/paas/data-safe/dsiad/datasafe_iam.html" TargetMode="External"/><Relationship Id="rId2" Type="http://schemas.openxmlformats.org/officeDocument/2006/relationships/hyperlink" Target="https://www.ateam-oracle.com/oci-iam-policies-best-practices" TargetMode="External"/><Relationship Id="rId3" Type="http://schemas.openxmlformats.org/officeDocument/2006/relationships/hyperlink" Target="https://docs.oracle.com/en-us/iaas/data-safe/doc/iam-policies.html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oracle.com/en-us/iaas/Content/Identity/Concepts/commonpolicies.htm" TargetMode="External"/><Relationship Id="rId2" Type="http://schemas.openxmlformats.org/officeDocument/2006/relationships/hyperlink" Target="https://docs.oracle.com/en/solutions/data-safe-on-oci-onprem/index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oracle.com/en-us/iaas/Content/Identity/Concepts/federation.htm" TargetMode="External"/><Relationship Id="rId2" Type="http://schemas.openxmlformats.org/officeDocument/2006/relationships/hyperlink" Target="https://learn.microsoft.com/en-us/azure/cloud-adoption-framework/scenarios/oracle-on-azure/oracle-security-overview-odaa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oracle.com/en/cloud/paas/data-safe/dsiad/datasafe_private_endpoint.html" TargetMode="External"/><Relationship Id="rId2" Type="http://schemas.openxmlformats.org/officeDocument/2006/relationships/hyperlink" Target="https://docs.oracle.com/en-us/iaas/releasenotes/changes/6d9c7bae-4f13-416a-87ec-7eb3773e50eb/index.htm" TargetMode="External"/><Relationship Id="rId3" Type="http://schemas.openxmlformats.org/officeDocument/2006/relationships/hyperlink" Target="https://docs.oracle.com/en/cloud/paas/data-safe/dsiad/datasafe_onprem_connector.html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oracle.com/en/cloud/paas/data-safe/admds/connectivity-options-target-databases.html" TargetMode="External"/><Relationship Id="rId2" Type="http://schemas.openxmlformats.org/officeDocument/2006/relationships/hyperlink" Target="https://docs.oracle.com/en/solutions/oci-best-practices/secure-your-databases1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oracle.com/en/solutions/learn-azure-oci-interconnect/index.html" TargetMode="External"/><Relationship Id="rId2" Type="http://schemas.openxmlformats.org/officeDocument/2006/relationships/hyperlink" Target="https://learn.microsoft.com/en-us/azure/oracle/oracle-db/oracle-database-network-plan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oracle.com/en/cloud/paas/data-safe/dsecc/register-exadata-cloudatcustomer-databases-using-oracle-data-safe-onpremises-connector.html" TargetMode="External"/><Relationship Id="rId2" Type="http://schemas.openxmlformats.org/officeDocument/2006/relationships/hyperlink" Target="https://www.pythian.com/blog/technical-track/what-is-oracle-data-safe-and-why-should-you-use-it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oracle.com/en-us/iaas/exadatacloud/doc/azure-key-vault-integration-for-oracle-database-at-azure.html" TargetMode="External"/><Relationship Id="rId2" Type="http://schemas.openxmlformats.org/officeDocument/2006/relationships/hyperlink" Target="https://learn.microsoft.com/en-us/azure/cloud-adoption-framework/scenarios/oracle-on-azure/oracle-security-overview-odaa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oracle.com/en/cloud/paas/data-safe/udscs/oracle-data-safe-overview.html" TargetMode="External"/><Relationship Id="rId2" Type="http://schemas.openxmlformats.org/officeDocument/2006/relationships/hyperlink" Target="https://docs.oracle.com/en-us/iaas/exadatacloud/doc/manage-database-security-with-oracle-data-safe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oracle.com/en/cloud/paas/data-safe/admds/add-security-rules.html" TargetMode="External"/><Relationship Id="rId2" Type="http://schemas.openxmlformats.org/officeDocument/2006/relationships/hyperlink" Target="https://docs.oracle.com/en/solutions/oci-best-practices/secure-your-databases1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techcommunity.microsoft.com/blog/fasttrackforazureblog/creating-a-local-network-virtual-appliance-in-azure-for-oracle-databaseazure/4218101" TargetMode="External"/><Relationship Id="rId2" Type="http://schemas.openxmlformats.org/officeDocument/2006/relationships/hyperlink" Target="https://learn.microsoft.com/en-us/azure/oracle/oracle-db/oracle-database-network-plan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techcommunity.microsoft.com/blog/fasttrackforazureblog/oracle-databaseazure-dns-setup/4304513" TargetMode="External"/><Relationship Id="rId2" Type="http://schemas.openxmlformats.org/officeDocument/2006/relationships/hyperlink" Target="https://learn.microsoft.com/en-us/azure/oracle/oracle-db/faq-oracle-database-azure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oracle.com/en/cloud/paas/data-safe/dsiad/datasafe_target_reg.html" TargetMode="External"/><Relationship Id="rId2" Type="http://schemas.openxmlformats.org/officeDocument/2006/relationships/hyperlink" Target="https://docs.oracle.com/en-us/iaas/tools/terraform-provider-oci/7.24.0/docs/r/data_safe_target_database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oracle.com/security/database-security/data-safe/features/" TargetMode="External"/><Relationship Id="rId2" Type="http://schemas.openxmlformats.org/officeDocument/2006/relationships/hyperlink" Target="https://docs.oracle.com/en/learn/oracle-datasafe-db-security-mgmt/index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pythian.com/blog/technical-track/what-is-oracle-data-safe-and-why-should-you-use-it" TargetMode="External"/><Relationship Id="rId2" Type="http://schemas.openxmlformats.org/officeDocument/2006/relationships/hyperlink" Target="https://learn.microsoft.com/en-us/azure/oracle/oracle-db/faq-oracle-database-azure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oracle.com/a/tech/docs/dbsec/unified-audit-best-practice-guidelines.pdf" TargetMode="External"/><Relationship Id="rId2" Type="http://schemas.openxmlformats.org/officeDocument/2006/relationships/hyperlink" Target="https://docs.oracle.com/en/cloud/paas/data-safe/udscs/activity-auditing-overview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oracle.com/en/cloud/paas/data-safe/udscs/service-limits.html" TargetMode="External"/><Relationship Id="rId2" Type="http://schemas.openxmlformats.org/officeDocument/2006/relationships/hyperlink" Target="https://www.oracle.com/security/database-security/data-safe/faq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oracle.com/security/database-security/data-safe/faq/" TargetMode="External"/><Relationship Id="rId2" Type="http://schemas.openxmlformats.org/officeDocument/2006/relationships/hyperlink" Target="https://docs.oracle.com/en/cloud/paas/data-safe/udscs/service-limits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oracle.com/en/learn/oracle-datasafe-db-security-mgmt/index.html" TargetMode="External"/><Relationship Id="rId2" Type="http://schemas.openxmlformats.org/officeDocument/2006/relationships/hyperlink" Target="https://www.oracle.com/security/database-security/data-safe/features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oracle.com/en/learn/oracle-datasafe-db-security-mgmt/index.html" TargetMode="External"/><Relationship Id="rId2" Type="http://schemas.openxmlformats.org/officeDocument/2006/relationships/hyperlink" Target="https://www.oracle.com/security/database-security/data-safe/features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oracle.com/en/cloud/paas/data-safe/udscs/alerts-overview.html" TargetMode="External"/><Relationship Id="rId2" Type="http://schemas.openxmlformats.org/officeDocument/2006/relationships/hyperlink" Target="https://docs.public.oneportal.content.oci.oraclecloud.com/en-us/iaas/releasenotes/changes/0076f8fb-d7dd-44c6-8546-f64022886111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ateam-oracle.com/building-a-serverless-siem-integration-for-oracle-data-safe-using-oci-streaming-and-oci-functions" TargetMode="External"/><Relationship Id="rId2" Type="http://schemas.openxmlformats.org/officeDocument/2006/relationships/hyperlink" Target="https://docs.oracle.com/en-us/iaas/Content/cloud-adoption-framework/siem-integration.htm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oracle.com/europe/security/database-security/data-safe/features/" TargetMode="External"/><Relationship Id="rId2" Type="http://schemas.openxmlformats.org/officeDocument/2006/relationships/hyperlink" Target="https://docs.oracle.com/en-us/iaas/data-safe/doc/oracle-data-safe-overview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hyperlink" Target="https://blogs.oracle.com/database/dms24ai-adds-new-types" TargetMode="External"/><Relationship Id="rId2" Type="http://schemas.openxmlformats.org/officeDocument/2006/relationships/hyperlink" Target="https://docs.oracle.com/en/cloud/paas/data-safe/udscs/data-masking-overview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oracle.com/en-us/iaas/data-safe/doc/create-data-masking-job.html" TargetMode="External"/><Relationship Id="rId2" Type="http://schemas.openxmlformats.org/officeDocument/2006/relationships/hyperlink" Target="https://docs.oracle.com/en/cloud/paas/data-safe/admds/oracle-data-safe-architecture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oracle.com/en-us/iaas/tools/terraform-provider-oci/7.24.0/docs/r/data_safe_target_database.html" TargetMode="External"/><Relationship Id="rId2" Type="http://schemas.openxmlformats.org/officeDocument/2006/relationships/hyperlink" Target="https://docs.oracle.com/en-us/iaas/tools/terraform-provider-oci/6.35.0/docs/r/data_safe_data_safe_configuration.html" TargetMode="External"/><Relationship Id="rId3" Type="http://schemas.openxmlformats.org/officeDocument/2006/relationships/hyperlink" Target="https://www.oracle.com/security/database-security/data-safe/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oracle.com/security/database-security/data-safe/" TargetMode="External"/><Relationship Id="rId2" Type="http://schemas.openxmlformats.org/officeDocument/2006/relationships/hyperlink" Target="https://docs.oracle.com/en/learn/rm-ocidevops/index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oracle.com/en-us/iaas/tools/oci-cli/latest/oci_cli_docs/cmdref/data-safe/audit-policy.html" TargetMode="External"/><Relationship Id="rId2" Type="http://schemas.openxmlformats.org/officeDocument/2006/relationships/hyperlink" Target="https://docs.oracle.com/en-us/iaas/data-safe/doc/oracle-data-safe-overview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en-us/azure/cloud-adoption-framework/scenarios/oracle-on-azure/oracle-security-overview-odaa" TargetMode="External"/><Relationship Id="rId2" Type="http://schemas.openxmlformats.org/officeDocument/2006/relationships/hyperlink" Target="https://docs.oracle.com/en-us/iaas/Content/cloud-adoption-framework/siem-integration.htm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oracle.com/en/cloud/paas/data-safe/udscs/service-limits.html" TargetMode="External"/><Relationship Id="rId2" Type="http://schemas.openxmlformats.org/officeDocument/2006/relationships/hyperlink" Target="https://docs.oracle.com/en-us/iaas/Content/Archive/Concepts/archivestorageoverview.htm" TargetMode="External"/><Relationship Id="rId3" Type="http://schemas.openxmlformats.org/officeDocument/2006/relationships/hyperlink" Target="https://docs.oracle.com/en-us/iaas/Content/Object/Tasks/usingretentionrules.htm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oracle.com/en/learn/oracle-datasafe-db-security-mgmt/index.html" TargetMode="External"/><Relationship Id="rId2" Type="http://schemas.openxmlformats.org/officeDocument/2006/relationships/hyperlink" Target="https://www.oracle.com/security/database-security/assessment-tool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oracle.com/en/solutions/oci-best-practices/secure-your-databases1.html" TargetMode="External"/><Relationship Id="rId2" Type="http://schemas.openxmlformats.org/officeDocument/2006/relationships/hyperlink" Target="https://docs.oracle.com/en/solutions/data-safe-on-oci-onprem/index.html" TargetMode="External"/><Relationship Id="rId3" Type="http://schemas.openxmlformats.org/officeDocument/2006/relationships/hyperlink" Target="https://www.oracle.com/webfolder/technetwork/tutorials/architecture-diagrams/data-safe/v1/index.html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oracle.com/en/cloud/paas/data-safe/dsiad/datasafe_onprem_connector.html" TargetMode="External"/><Relationship Id="rId2" Type="http://schemas.openxmlformats.org/officeDocument/2006/relationships/hyperlink" Target="https://docs.oracle.com/en/solutions/oracle-data-safe-for-on-prem-database/index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Data Safe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Decisions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834640"/>
            <a:ext cx="2743200" cy="0"/>
          </a:xfrm>
          <a:prstGeom prst="line">
            <a:avLst/>
          </a:prstGeom>
          <a:noFill/>
          <a:ln w="38100">
            <a:solidFill>
              <a:srgbClr val="4A90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0175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Database @ Azure  |  Architecture Workshop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Hub-Spoke Landing Zone  |  Non-Autonomous Databases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Objective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and document all key design decisions for implementing Oracle Data Safe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 Oracle Database @ Azure (Exadata Database Service) in an Azure Landing Zone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Assumption: Hub-spoke networking already in place, databases in production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Assumption: Non-autonomous databases (Exadata DB Service on Dedicated Infrastructure)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Decision matrix per topic area with options, recommendations, and trade-offs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Audience: Cloud architects, security architects, database administrators, platform teams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Oracle Data Safe?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cloud-native security service in Oracle Cloud Infrastructure (OCI)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Assessment — evaluate database configurations against CIS/STIG benchmarks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Assessment — analyze user privileges, roles, and password policies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Auditing — collect and analyze database audit records with alerting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Firewall — protect against SQL injection and compromised accounts (DB 23ai)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Discovery — find sensitive data across 150+ predefined data types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Masking — permanently replace sensitive data with realistic fictitious data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 with Oracle Database Cloud Service at no additional cost (1M audit records/month)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Database @ Azure Context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OCI-managed Exadata infrastructure deployed inside Azure datacenters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Databases connect via Azure VNet with delegated subnets (private IPs)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OCI control plane manages database operations; Azure manages infrastructure provisioning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Cross-cloud backbone provides low-latency private connectivity between OCI and Azure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Safe runs in the OCI control plane and connects to databases via private endpoints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Data Safe now officially supports Oracle Database@Azure target registration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Hub-spoke model requires careful routing (UDRs) for NVA/firewall integration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Decision Matrix Format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decision is presented on its own slide in a 2x2 matrix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Upper Left: The design decision that needs to be made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Upper Right: Available options to choose from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Left: Recommended option and impact if not chosen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Right: Reference links and additional information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are grouped by category (Governance, Connectivity, Security, etc.)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5C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731520" y="2560320"/>
            <a:ext cx="6400800" cy="0"/>
          </a:xfrm>
          <a:prstGeom prst="line">
            <a:avLst/>
          </a:prstGeom>
          <a:noFill/>
          <a:ln w="38100">
            <a:solidFill>
              <a:srgbClr val="4A90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7432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&amp; Identity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&amp; Identity  |  DD-01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4069080" cy="1600200"/>
          </a:xfrm>
          <a:prstGeom prst="rect">
            <a:avLst/>
          </a:prstGeom>
          <a:solidFill>
            <a:srgbClr val="D6E8F7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OCI IAM Policy Model for Data Safe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should OCI IAM policies be structured to control access to Data Safe features and resources?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502920"/>
            <a:ext cx="4069080" cy="160020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Tenancy-level policies granting broad access to all Data Safe features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Compartment-scoped policies with resource-family grouping (e.g., data-safe-assessment-family)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Fine-grained per-resource-type policies for maximum control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&amp; IMPACT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Compartment-scoped policies using resource families. Create separate OCI groups for Security Admins, Auditors, and Data Masking operators with appropriate verb levels (inspect/read/use/manage).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if not chosen: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Overly permissive access increases risk of unauthorized data exposure or accidental masking of production data. Overly restrictive policies block operational workflows.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&amp; REFERENCES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 Data Safe IAM Policies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OCI IAM Policies Best Practices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3. Data Safe Resource Types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&amp; Identity  |  DD-02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4069080" cy="1600200"/>
          </a:xfrm>
          <a:prstGeom prst="rect">
            <a:avLst/>
          </a:prstGeom>
          <a:solidFill>
            <a:srgbClr val="D6E8F7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OCI Compartment Structure for Data Safe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compartment hierarchy should be used to organize Data Safe resources (targets, policies, reports)?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502920"/>
            <a:ext cx="4069080" cy="160020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Single compartment for all Data Safe resources across environments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Separate compartments per environment (production / non-production)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Separate compartments per database group or application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&amp; IMPACT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compartments per environment, aligned with the existing Azure landing zone structure. This enables environment-specific IAM policies and audit isolation.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if not chosen: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Cross-environment data leakage risk. Difficulty applying least-privilege policies. Audit data from production and non-production mixed together.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&amp; REFERENCES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 OCI Compartment Best Practices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Data Safe Landing Zone Reference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&amp; Identity  |  DD-03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4069080" cy="1600200"/>
          </a:xfrm>
          <a:prstGeom prst="rect">
            <a:avLst/>
          </a:prstGeom>
          <a:solidFill>
            <a:srgbClr val="D6E8F7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Federation Between Azure Entra ID and OCI IAM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should administrators authenticate to the OCI console to manage Data Safe?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502920"/>
            <a:ext cx="4069080" cy="160020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Separate local OCI user accounts (no federation)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SAML federation with Azure Entra ID for SSO into OCI console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SCIM-based user provisioning from Entra ID to OCI IAM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&amp; IMPACT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SAML federation with Azure Entra ID. Map federated groups to OCI groups with Data Safe policies. Enables SSO and centralized identity lifecycle management.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if not chosen: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identity management burden. Orphaned OCI accounts. Inconsistent access controls across Azure and OCI platforms.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&amp; REFERENCES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 OCI Identity Federation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Security for Oracle DB@Azure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5C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731520" y="2560320"/>
            <a:ext cx="6400800" cy="0"/>
          </a:xfrm>
          <a:prstGeom prst="line">
            <a:avLst/>
          </a:prstGeom>
          <a:noFill/>
          <a:ln w="38100">
            <a:solidFill>
              <a:srgbClr val="4A90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7432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Connectivity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Connectivity  |  DD-04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4069080" cy="1600200"/>
          </a:xfrm>
          <a:prstGeom prst="rect">
            <a:avLst/>
          </a:prstGeom>
          <a:solidFill>
            <a:srgbClr val="D6E8F7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Safe Connectivity Method to Oracle Database@Azure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should Data Safe connect to the Exadata databases running in Azure?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502920"/>
            <a:ext cx="4069080" cy="160020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Data Safe Private Endpoint in OCI VCN (uses cross-cloud backbone)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On-Premises Connector agent installed on a host VM in Azure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Direct connection (only for databases with OCI VCN access)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&amp; IMPACT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Endpoint in the OCI VCN connected via the native cross-cloud backbone. Data Safe now officially supports Oracle Database@Azure as a target. Limit: 1 private endpoint per VCN.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if not chosen: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On-premises connector adds operational overhead (agent management, patching). Limited to 5 connectors per tenancy/region. No direct connection possible without OCI VCN access.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&amp; REFERENCES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 Data Safe Private Endpoint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Data Safe supports DB@Azure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3. On-Premises Connector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Connectivity  |  DD-05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4069080" cy="1600200"/>
          </a:xfrm>
          <a:prstGeom prst="rect">
            <a:avLst/>
          </a:prstGeom>
          <a:solidFill>
            <a:srgbClr val="D6E8F7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Protocol: TCP vs TLS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Data Safe connect to target databases using unencrypted TCP or encrypted TLS?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502920"/>
            <a:ext cx="4069080" cy="160020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TCP — unencrypted connection (simpler setup)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TLS — encrypted connection (recommended by Oracle)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&amp; IMPACT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for all Data Safe connections. Oracle recommends TLS for cross-cloud communication. Required for compliance with data-in-transit encryption standards.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if not chosen: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data and masking operations traverse the network unencrypted. Compliance violations for regulated workloads (PCI-DSS, GDPR, SOX). Potential audit findings.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&amp; REFERENCES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 Connectivity Options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OCI Security Best Practices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Connectivity  |  DD-06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4069080" cy="1600200"/>
          </a:xfrm>
          <a:prstGeom prst="rect">
            <a:avLst/>
          </a:prstGeom>
          <a:solidFill>
            <a:srgbClr val="D6E8F7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Cross-Cloud Network Path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network path should Data Safe traffic use to reach Oracle Database@Azure?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502920"/>
            <a:ext cx="4069080" cy="160020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Native OCI-Azure backbone (included with DB@Azure)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Explicit FastConnect/ExpressRoute peering (separate circuits)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VPN tunnel between OCI and Azure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&amp; IMPACT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native OCI-Azure backbone that comes with Oracle Database@Azure. It provides low-latency, private connectivity without additional infrastructure.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if not chosen: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network infrastructure cost and complexity. Potential latency issues with VPN. FastConnect/ExpressRoute peering requires separate provisioning and management.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&amp; REFERENCES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 Azure-OCI Interconnect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DB@Azure Network Planning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B5C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731520" y="2560320"/>
            <a:ext cx="6400800" cy="0"/>
          </a:xfrm>
          <a:prstGeom prst="line">
            <a:avLst/>
          </a:prstGeom>
          <a:noFill/>
          <a:ln w="38100">
            <a:solidFill>
              <a:srgbClr val="4A90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7432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 |  DD-07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4069080" cy="1600200"/>
          </a:xfrm>
          <a:prstGeom prst="rect">
            <a:avLst/>
          </a:prstGeom>
          <a:solidFill>
            <a:srgbClr val="D6E8F7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Safe Service Account Privileges on Target Databases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Data Safe roles should be granted to the service account on each target database?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502920"/>
            <a:ext cx="4069080" cy="160020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Full privileges — all Data Safe roles (DS$ASSESSMENT, DS$AUDIT, DS$MASKING, etc.)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Feature-specific roles — grant only roles needed per database purpose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Minimal read-only — assessment roles only (no audit collection or masking)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&amp; IMPACT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Feature-specific roles per database. Use the datasafe_privileges.sql script. Grant audit/assessment roles on production; add masking roles only on non-production databases.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if not chosen: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Excessive database privileges violate least-privilege principle. Non-compliance with security standards. Risk of accidental data masking on production databases.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&amp; REFERENCES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 Grant Roles to Data Safe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Data Safe Privileges Script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 |  DD-08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4069080" cy="1600200"/>
          </a:xfrm>
          <a:prstGeom prst="rect">
            <a:avLst/>
          </a:prstGeom>
          <a:solidFill>
            <a:srgbClr val="D6E8F7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 of Audit Data at Rest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should audit data stored in the Data Safe repository be encrypted?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502920"/>
            <a:ext cx="4069080" cy="160020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Oracle-managed encryption (default — Data Safe uses its own managed ADB)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Customer-managed keys via OCI Vault for Data Safe repository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Azure Key Vault integration for target database TDE keys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&amp; IMPACT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Oracle-managed encryption for the Data Safe repository (it is an Oracle-managed ADB). For target databases, integrate with Azure Key Vault for TDE key management.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if not chosen: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of key management control. Potential compliance gaps if regulations require customer-managed keys. Inability to rotate keys on customer schedule.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&amp; REFERENCES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 Azure Key Vault for DB@Azure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Security for Oracle DB@Azure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 |  DD-09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4069080" cy="1600200"/>
          </a:xfrm>
          <a:prstGeom prst="rect">
            <a:avLst/>
          </a:prstGeom>
          <a:solidFill>
            <a:srgbClr val="D6E8F7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Firewall Deployment Strategy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Oracle SQL Firewall be enabled and managed through Data Safe?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502920"/>
            <a:ext cx="4069080" cy="160020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Enable SQL Firewall for all databases (requires Oracle Database 23ai)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Enable only for production databases with 23ai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Do not use SQL Firewall (not on 23ai or alternative controls exist)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&amp; IMPACT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SQL Firewall for production databases running Oracle 23ai. Requires a learning phase to collect authorized SQL activities and build allowlists before enforcement mode.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if not chosen: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protection against SQL injection or compromised account attacks at the database layer. No centralized SQL Firewall violation monitoring across the fleet.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&amp; REFERENCES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 SQL Firewall in Data Safe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SQL Firewall Management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B5C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731520" y="2560320"/>
            <a:ext cx="6400800" cy="0"/>
          </a:xfrm>
          <a:prstGeom prst="line">
            <a:avLst/>
          </a:prstGeom>
          <a:noFill/>
          <a:ln w="38100">
            <a:solidFill>
              <a:srgbClr val="4A90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7432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Networking, Routing &amp; Firewalling</a:t>
            </a:r>
            <a:endParaRPr lang="en-US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  |  DD-10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4069080" cy="1600200"/>
          </a:xfrm>
          <a:prstGeom prst="rect">
            <a:avLst/>
          </a:prstGeom>
          <a:solidFill>
            <a:srgbClr val="D6E8F7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Security Groups (NSGs) vs Security Lists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should network access between Data Safe private endpoints and target databases be controlled?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502920"/>
            <a:ext cx="4069080" cy="160020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Network Security Groups (NSGs) — VNIC-level granularity (Oracle recommended)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Security Lists — subnet-wide rules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Both NSGs and Security Lists combined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&amp; IMPACT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NSGs for both the Data Safe private endpoint and target database subnets. NSGs provide VNIC-level granularity and are recommended by Oracle for Data Safe.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if not chosen: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lists are subnet-wide and less granular. Harder to manage per-database security rules. Risk of unintended port exposure to all resources in the subnet.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&amp; REFERENCES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 Data Safe Security Rules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NSG Best Practices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  |  DD-11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4069080" cy="1600200"/>
          </a:xfrm>
          <a:prstGeom prst="rect">
            <a:avLst/>
          </a:prstGeom>
          <a:solidFill>
            <a:srgbClr val="D6E8F7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Firewall Rules for Data Safe Traffic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Data Safe traffic be routed through the Azure hub NVA/firewall for inspection?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502920"/>
            <a:ext cx="4069080" cy="160020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Allow Data Safe traffic without NVA inspection (OCI-internal path)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Route through Azure hub NVA/firewall for inspection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Bypass firewall for OCI-internal traffic only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&amp; IMPACT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Safe traffic traverses the OCI backbone (not the Azure hub). Configure OCI NSG rules: egress from private endpoint to DB listener port, ingress from private endpoint IP to database.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if not chosen: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Misconfigured rules block Data Safe from reaching databases. Routing through Azure NVA may not be possible for OCI-internal traffic. Overly permissive rules expose database ports.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&amp; REFERENCES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 NVA for Oracle DB@Azure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DB@Azure Network Planning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  |  DD-12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4069080" cy="1600200"/>
          </a:xfrm>
          <a:prstGeom prst="rect">
            <a:avLst/>
          </a:prstGeom>
          <a:solidFill>
            <a:srgbClr val="D6E8F7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Resolution for Database@Azure SCAN Addresses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should Data Safe resolve the SCAN FQDNs of Oracle Database@Azure clusters?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502920"/>
            <a:ext cx="4069080" cy="160020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Azure Private DNS zones (aligned with landing zone DNS)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Custom DNS forwarders in the hub VNet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OCI DNS resolver within the linked OCI tenancy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&amp; IMPACT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Azure DNS configuration aligned with the existing landing zone DNS setup. Ensure Data Safe private endpoint can resolve SCAN FQDNs of Oracle Database@Azure clusters.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if not chosen: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resolution failures prevent Data Safe from connecting to target databases. SCAN addresses map to 3 cluster IPs — all must be resolvable.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&amp; REFERENCES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 DB@Azure DNS Setup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DB@Azure FAQ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B5C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731520" y="2560320"/>
            <a:ext cx="6400800" cy="0"/>
          </a:xfrm>
          <a:prstGeom prst="line">
            <a:avLst/>
          </a:prstGeom>
          <a:noFill/>
          <a:ln w="38100">
            <a:solidFill>
              <a:srgbClr val="4A90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7432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Databases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Databases  |  DD-13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4069080" cy="1600200"/>
          </a:xfrm>
          <a:prstGeom prst="rect">
            <a:avLst/>
          </a:prstGeom>
          <a:solidFill>
            <a:srgbClr val="D6E8F7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Database Registration Strategy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what order and scope should databases be registered as Data Safe targets?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502920"/>
            <a:ext cx="4069080" cy="160020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Register all databases at once (big-bang approach)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Phased registration — non-production first, then production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Register only production databases initially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&amp; IMPACT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approach — start with non-production for validation and team training, then production. Use the OCI Console or Terraform (oci_data_safe_target_database) for registration.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if not chosen: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Big-bang registration risks misconfiguration affecting production databases. Missing non-production databases leaves test environments unprotected and unmasked.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&amp; REFERENCES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 Target Registration Overview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Terraform Target Database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Databases  |  DD-14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4069080" cy="1600200"/>
          </a:xfrm>
          <a:prstGeom prst="rect">
            <a:avLst/>
          </a:prstGeom>
          <a:solidFill>
            <a:srgbClr val="D6E8F7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Safe Features to Enable Per Database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Data Safe features should be activated on which database types?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502920"/>
            <a:ext cx="4069080" cy="160020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All features on all databases (uniform approach)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Assessment + Auditing on production; Masking on non-production only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Tiered approach based on data classification and environment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&amp; IMPACT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Tiered approach: Security Assessment + User Assessment + Auditing + Alerts on all databases. Data Discovery + Data Masking on non-production only. SQL Firewall on production (if 23ai).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if not chosen: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data masking on production risks irreversible data loss. Not auditing non-production misses insider threats. Missing assessments means unknown security drift.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&amp; REFERENCES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 Data Safe Features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Data Safe Security Management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Databases  |  DD-15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4069080" cy="1600200"/>
          </a:xfrm>
          <a:prstGeom prst="rect">
            <a:avLst/>
          </a:prstGeom>
          <a:solidFill>
            <a:srgbClr val="D6E8F7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Version Compatibility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Oracle database versions are in use and which Data Safe features are available?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502920"/>
            <a:ext cx="4069080" cy="160020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Oracle Database 19c — supports all features except SQL Firewall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Oracle Database 23ai — supports all features including SQL Firewall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Mixed versions across the estate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&amp; IMPACT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all target databases meet minimum version (11.2.0.4+). Plan SQL Firewall adoption alongside any planned 23ai upgrades. Document version-to-feature matrix.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if not chosen: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unavailability causes deployment failures. SQL Firewall cannot be used on pre-23ai databases. Security assessment findings may differ by version.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&amp; REFERENCES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 Data Safe Version Support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DB@Azure FAQ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B5C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731520" y="2560320"/>
            <a:ext cx="6400800" cy="0"/>
          </a:xfrm>
          <a:prstGeom prst="line">
            <a:avLst/>
          </a:prstGeom>
          <a:noFill/>
          <a:ln w="38100">
            <a:solidFill>
              <a:srgbClr val="4A90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7432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Auditing</a:t>
            </a:r>
            <a:endParaRPr lang="en-US" sz="2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Auditing  |  DD-16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4069080" cy="1600200"/>
          </a:xfrm>
          <a:prstGeom prst="rect">
            <a:avLst/>
          </a:prstGeom>
          <a:solidFill>
            <a:srgbClr val="D6E8F7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Policy Selection and Provisioning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audit policies should be enabled on target databases via Data Safe?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502920"/>
            <a:ext cx="4069080" cy="160020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Oracle predefined CIS/STIG policies only (quick start)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Custom policies tailored to organization's requirements only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Combination of predefined + custom policies (recommended)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&amp; IMPACT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Oracle predefined best-practice policies (CIS, Admin Activity, User Activity), then add custom policies for application-specific sensitive tables and operations.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if not chosen: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Predefined-only misses application-specific risks. Custom-only requires significant effort and may miss standard threats. Best practice: group related options into single policies.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&amp; REFERENCES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 Unified Audit Best Practices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Activity Auditing Overview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Auditing  |  DD-17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4069080" cy="1600200"/>
          </a:xfrm>
          <a:prstGeom prst="rect">
            <a:avLst/>
          </a:prstGeom>
          <a:solidFill>
            <a:srgbClr val="D6E8F7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Data Retention Period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long should audit data be retained in Data Safe?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502920"/>
            <a:ext cx="4069080" cy="160020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12 months online retention (default)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12 months online + archive up to 7 years total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Custom retention period per regulatory requirement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&amp; IMPACT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months online + archive to 7 years for compliance. Data Safe supports up to 7 years total retention with built-in archival. Configure per-target retention policies.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if not chosen: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Non-compliance with regulations requiring multi-year audit trails (SOX: 7 years, GDPR: varies). Lost forensic capability for historical incident investigation.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&amp; REFERENCES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 Data Safe Service Limits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Data Safe FAQ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Auditing  |  DD-18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4069080" cy="1600200"/>
          </a:xfrm>
          <a:prstGeom prst="rect">
            <a:avLst/>
          </a:prstGeom>
          <a:solidFill>
            <a:srgbClr val="D6E8F7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Volume Management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should audit record volume be managed relative to the 1M records/month/target free tier?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502920"/>
            <a:ext cx="4069080" cy="160020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Stay within 1M records/month/target (selective auditing)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Enable Global Paid Usage for higher volumes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Selective auditing to control volume + paid overflow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&amp; IMPACT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expected audit volume per database. Enable 'Global Paid Usage' in Security Center if volumes will exceed 1M records/month. Use selective audit policies to control volume.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if not chosen: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collection stops at 1M records if paid usage is not enabled — creates gaps in the audit trail. Overspending if all activity is audited without filtering.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&amp; REFERENCES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 Data Safe Pricing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Service Limits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B5C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731520" y="2560320"/>
            <a:ext cx="6400800" cy="0"/>
          </a:xfrm>
          <a:prstGeom prst="line">
            <a:avLst/>
          </a:prstGeom>
          <a:noFill/>
          <a:ln w="38100">
            <a:solidFill>
              <a:srgbClr val="4A90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7432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2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 |  DD-19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4069080" cy="1600200"/>
          </a:xfrm>
          <a:prstGeom prst="rect">
            <a:avLst/>
          </a:prstGeom>
          <a:solidFill>
            <a:srgbClr val="D6E8F7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Safe Dashboard and Reporting Strategy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should the security posture of the database fleet be monitored and reported?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502920"/>
            <a:ext cx="4069080" cy="160020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Use built-in Data Safe Security Center dashboard only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Export Data Safe data to Azure Monitor / Log Analytics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Custom reporting via OCI Data Safe REST APIs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&amp; IMPACT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Data Safe Security Center as the primary dashboard for database security posture. Supplement with OCI Events + OCI Notifications for real-time operational alerting.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if not chosen: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unified view of database security posture across the fleet. Inability to demonstrate compliance status to auditors. Delayed detection of security drift.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&amp; REFERENCES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 Data Safe Security Center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Data Safe Features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 |  DD-20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4069080" cy="1600200"/>
          </a:xfrm>
          <a:prstGeom prst="rect">
            <a:avLst/>
          </a:prstGeom>
          <a:solidFill>
            <a:srgbClr val="D6E8F7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Assessment Scheduling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frequently should automated security assessments run against target databases?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502920"/>
            <a:ext cx="4069080" cy="160020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Weekly automated schedule (Data Safe default)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Daily automated schedule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On-demand only (no scheduled assessments)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&amp; IMPACT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default weekly automated assessments. Run additional on-demand assessments after significant changes (patches, upgrades, configuration changes, new database deployments).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if not chosen: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drift goes undetected between assessments. Security misconfigurations from patches or changes may persist for extended periods before discovery.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&amp; REFERENCES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 Assessment Scheduling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Security Assessment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2B5C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731520" y="2560320"/>
            <a:ext cx="6400800" cy="0"/>
          </a:xfrm>
          <a:prstGeom prst="line">
            <a:avLst/>
          </a:prstGeom>
          <a:noFill/>
          <a:ln w="38100">
            <a:solidFill>
              <a:srgbClr val="4A90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7432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Alerting</a:t>
            </a:r>
            <a:endParaRPr lang="en-US" sz="2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Alerting  |  DD-21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4069080" cy="1600200"/>
          </a:xfrm>
          <a:prstGeom prst="rect">
            <a:avLst/>
          </a:prstGeom>
          <a:solidFill>
            <a:srgbClr val="D6E8F7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Policy Configuration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alert policies should be enabled on target databases?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502920"/>
            <a:ext cx="4069080" cy="160020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Oracle predefined alert policies only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Custom alert policies for organization-specific events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Both predefined + custom alert policies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&amp; IMPACT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predefined alert policies (failed admin logins, user creation/deletion, privilege changes, audit policy changes) plus custom alerts for organization-specific events.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if not chosen: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security events go unnoticed. Delayed incident response. No alerting on application-specific suspicious activities.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&amp; REFERENCES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 Alerts Overview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Data Safe Notifications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Alerting  |  DD-22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4069080" cy="1600200"/>
          </a:xfrm>
          <a:prstGeom prst="rect">
            <a:avLst/>
          </a:prstGeom>
          <a:solidFill>
            <a:srgbClr val="D6E8F7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Notification Channel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should Data Safe alerts be delivered to security operations teams?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502920"/>
            <a:ext cx="4069080" cy="160020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Data Safe console only (manual review)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OCI Notifications — email, Slack, PagerDuty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SIEM integration via OCI Events + Streaming + Functions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&amp; IMPACT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OCI Events → OCI Streaming → SIEM (e.g., Splunk, Microsoft Sentinel) for enterprise SOC integration. Use OCI Notifications for immediate email alerts as a backup channel.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if not chosen: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trapped in OCI console with no integration with existing SOC workflows. No correlation between database security events and Azure/application security events.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&amp; REFERENCES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 SIEM Integration Pattern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OCI SIEM Design Guide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B5C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731520" y="2560320"/>
            <a:ext cx="6400800" cy="0"/>
          </a:xfrm>
          <a:prstGeom prst="line">
            <a:avLst/>
          </a:prstGeom>
          <a:noFill/>
          <a:ln w="38100">
            <a:solidFill>
              <a:srgbClr val="4A90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7432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Masking &amp; Sensitivity</a:t>
            </a:r>
            <a:endParaRPr lang="en-US" sz="2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Masking &amp; Sensitivity  |  DD-23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4069080" cy="1600200"/>
          </a:xfrm>
          <a:prstGeom prst="rect">
            <a:avLst/>
          </a:prstGeom>
          <a:solidFill>
            <a:srgbClr val="D6E8F7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Data Discovery Approach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sensitive data types should Data Discovery search for in target databases?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502920"/>
            <a:ext cx="4069080" cy="160020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All 150+ predefined sensitive data types (broadest coverage)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Selected categories only (PII, financial, healthcare as relevant)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Custom data types only (organization-specific definitions)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&amp; IMPACT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predefined types filtered to relevant categories (PII, financial, healthcare). Extend with custom types for organization-specific sensitive data (e.g., internal IDs, proprietary codes).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if not chosen: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Over-discovery creates noise and overwhelms review. Under-discovery misses critical sensitive data. Custom-only misses common patterns already handled by predefined types.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&amp; REFERENCES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 Data Safe Sensitive Data Types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Data Discovery Overview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Masking &amp; Sensitivity  |  DD-24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4069080" cy="1600200"/>
          </a:xfrm>
          <a:prstGeom prst="rect">
            <a:avLst/>
          </a:prstGeom>
          <a:solidFill>
            <a:srgbClr val="D6E8F7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Masking Format Strategy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should masking formats be assigned to discovered sensitive columns?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502920"/>
            <a:ext cx="4069080" cy="160020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Predefined masking formats with auto-assignment (least effort)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Custom masking formats per data type (maximum control)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Combination: predefined baseline + custom for specific columns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&amp; IMPACT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predefined masking formats with auto-assignment as baseline. Create custom formats only where predefined ones don't meet application validation requirements (e.g., Luhn checks).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if not chosen: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 data that doesn't pass application validation breaks test environments. Full custom approach requires significant effort to define and maintain all formats.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&amp; REFERENCES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 Auto-Assignment Feature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Data Masking Overview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Masking &amp; Sensitivity  |  DD-25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4069080" cy="1600200"/>
          </a:xfrm>
          <a:prstGeom prst="rect">
            <a:avLst/>
          </a:prstGeom>
          <a:solidFill>
            <a:srgbClr val="D6E8F7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Masking Execution Environment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and when should data masking jobs be executed?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502920"/>
            <a:ext cx="4069080" cy="160020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Mask directly on non-production databases after refresh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Mask on a staging copy, then distribute to dev/test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Mask during database clone/refresh pipeline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&amp; IMPACT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 on a staging copy after production refresh, then distribute to dev/test environments. Always back up before masking — masking is permanent and irreversible.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if not chosen: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masking without backup risks irreversible data loss. Masking during refresh may extend downtime. No staging copy means all environments wait for masking to complete.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&amp; REFERENCES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 Data Masking Guide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Data Safe Architecture</a:t>
            </a:r>
            <a:endParaRPr lang="en-US" sz="8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2B5C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731520" y="2560320"/>
            <a:ext cx="6400800" cy="0"/>
          </a:xfrm>
          <a:prstGeom prst="line">
            <a:avLst/>
          </a:prstGeom>
          <a:noFill/>
          <a:ln w="38100">
            <a:solidFill>
              <a:srgbClr val="4A90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7432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Automation</a:t>
            </a:r>
            <a:endParaRPr lang="en-US" sz="2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Automation  |  DD-26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4069080" cy="1600200"/>
          </a:xfrm>
          <a:prstGeom prst="rect">
            <a:avLst/>
          </a:prstGeom>
          <a:solidFill>
            <a:srgbClr val="D6E8F7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as Code for Data Safe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should Data Safe resources be provisioned and managed?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502920"/>
            <a:ext cx="4069080" cy="160020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Manual provisioning via OCI Console (click-ops)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Terraform with OCI Provider (infrastructure as code)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OCI CLI/SDK scripted automation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OCI Resource Manager (managed Terraform)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&amp; IMPACT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via OCI Provider for all Data Safe resources. Key resources: oci_data_safe_data_safe_configuration, oci_data_safe_target_database, oci_data_safe_data_safe_private_endpoint.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if not chosen: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drift between environments. Inconsistent configurations. No version control for infrastructure changes. Inability to reproduce environments reliably.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&amp; REFERENCES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 Terraform Target Database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Data Safe Terraform Config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3. Data Safe Automation</a:t>
            </a:r>
            <a:endParaRPr lang="en-US" sz="8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2B5C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731520" y="2560320"/>
            <a:ext cx="6400800" cy="0"/>
          </a:xfrm>
          <a:prstGeom prst="line">
            <a:avLst/>
          </a:prstGeom>
          <a:noFill/>
          <a:ln w="38100">
            <a:solidFill>
              <a:srgbClr val="4A90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7432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</a:t>
            </a:r>
            <a:endParaRPr lang="en-US" sz="2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 |  DD-27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4069080" cy="1600200"/>
          </a:xfrm>
          <a:prstGeom prst="rect">
            <a:avLst/>
          </a:prstGeom>
          <a:solidFill>
            <a:srgbClr val="D6E8F7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Safe Configuration in CI/CD Pipelines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should Data Safe operations be integrated into existing CI/CD workflows?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502920"/>
            <a:ext cx="4069080" cy="160020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No CI/CD integration for Data Safe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Terraform pipelines for infrastructure changes only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Full API-driven pipelines for masking, assessment, and auditing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&amp; IMPACT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pipelines for Data Safe infrastructure. OCI CLI/API calls in CI/CD for triggering masking jobs after database refreshes. Use REST APIs, CLI, and SDKs (Java, Python, Go, .NET).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if not chosen: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processes for masking and assessment. Delays in non-production data availability after refreshes. No automated compliance checks in deployment pipelines.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&amp; REFERENCES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 Data Safe REST APIs &amp; SDKs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OCI DevOps Automation</a:t>
            </a:r>
            <a:endParaRPr lang="en-US" sz="8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2B5C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731520" y="2560320"/>
            <a:ext cx="6400800" cy="0"/>
          </a:xfrm>
          <a:prstGeom prst="line">
            <a:avLst/>
          </a:prstGeom>
          <a:noFill/>
          <a:ln w="38100">
            <a:solidFill>
              <a:srgbClr val="4A90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7432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Versioning</a:t>
            </a:r>
            <a:endParaRPr lang="en-US" sz="2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Versioning  |  DD-28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4069080" cy="1600200"/>
          </a:xfrm>
          <a:prstGeom prst="rect">
            <a:avLst/>
          </a:prstGeom>
          <a:solidFill>
            <a:srgbClr val="D6E8F7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Data Model and Masking Policy Versioning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should sensitive data models and masking policies be version-controlled?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502920"/>
            <a:ext cx="4069080" cy="160020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No versioning — overwrite in place within Data Safe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Version within Data Safe compartments (multiple copies)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Export via OCI CLI/API and store in Git alongside application code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&amp; IMPACT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sensitive data models and masking policies via OCI CLI/API and store in Git. Track changes alongside application schema changes for full audit trail.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if not chosen: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audit trail of masking policy changes. Inability to roll back to previous configurations. No correlation between schema changes and masking policy updates.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&amp; REFERENCES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 Data Safe CLI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Data Safe Overview</a:t>
            </a:r>
            <a:endParaRPr lang="en-US" sz="8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2B5C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731520" y="2560320"/>
            <a:ext cx="6400800" cy="0"/>
          </a:xfrm>
          <a:prstGeom prst="line">
            <a:avLst/>
          </a:prstGeom>
          <a:noFill/>
          <a:ln w="38100">
            <a:solidFill>
              <a:srgbClr val="4A90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7432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2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 |  DD-29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4069080" cy="1600200"/>
          </a:xfrm>
          <a:prstGeom prst="rect">
            <a:avLst/>
          </a:prstGeom>
          <a:solidFill>
            <a:srgbClr val="D6E8F7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with Azure Security Stack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should Data Safe integrate with existing Azure security monitoring tools?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502920"/>
            <a:ext cx="4069080" cy="160020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No integration — manage Data Safe in OCI console only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Forward Data Safe alerts to Microsoft Sentinel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Azure Arc integration for Exadata VMs + Defender for Cloud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&amp; IMPACT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Data Safe alerts to Microsoft Sentinel via OCI Events → OCI Streaming → Azure Event Hub. Enable Azure Arc on Exadata VM clusters for Defender for Cloud visibility.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if not chosen: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Siloed security monitoring across OCI and Azure. No correlation between database security events and application/infrastructure security events. Incomplete SOC coverage.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&amp; REFERENCES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 Azure Arc for Oracle DB@Azure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OCI SIEM Integration</a:t>
            </a:r>
            <a:endParaRPr lang="en-US" sz="8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2B5C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731520" y="2560320"/>
            <a:ext cx="6400800" cy="0"/>
          </a:xfrm>
          <a:prstGeom prst="line">
            <a:avLst/>
          </a:prstGeom>
          <a:noFill/>
          <a:ln w="38100">
            <a:solidFill>
              <a:srgbClr val="4A90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7432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2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 |  DD-30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4069080" cy="1600200"/>
          </a:xfrm>
          <a:prstGeom prst="rect">
            <a:avLst/>
          </a:prstGeom>
          <a:solidFill>
            <a:srgbClr val="D6E8F7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Data Archival Storage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should audit data be stored for long-term retention beyond the online period?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502920"/>
            <a:ext cx="4069080" cy="160020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Data Safe built-in archival only (up to 7 years total)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Export to OCI Object Storage for custom analytics and retention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Export to OCI Archive Storage for lowest-cost long-term compliance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&amp; IMPACT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Data Safe's built-in archival (up to 7 years). For longer retention or custom analytics, export via API to OCI Object Storage with lifecycle policies and retention rules.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if not chosen: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data loss after retention period expires. Compliance violations for regulations requiring extended retention. No ability to perform custom analytics on historical data.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&amp; REFERENCES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 Service Limits &amp; Retention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OCI Archive Storage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3. OCI Object Storage Retention</a:t>
            </a:r>
            <a:endParaRPr lang="en-US" sz="8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2B5C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731520" y="2560320"/>
            <a:ext cx="6400800" cy="0"/>
          </a:xfrm>
          <a:prstGeom prst="line">
            <a:avLst/>
          </a:prstGeom>
          <a:noFill/>
          <a:ln w="38100">
            <a:solidFill>
              <a:srgbClr val="4A90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7432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Management</a:t>
            </a:r>
            <a:endParaRPr lang="en-US" sz="2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Management  |  DD-31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4069080" cy="1600200"/>
          </a:xfrm>
          <a:prstGeom prst="rect">
            <a:avLst/>
          </a:prstGeom>
          <a:solidFill>
            <a:srgbClr val="D6E8F7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Assessment Baseline Management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should security assessment baselines be established and maintained?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502920"/>
            <a:ext cx="4069080" cy="160020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No baseline — compare against Oracle defaults only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Set initial baseline after security hardening, track drift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Multiple baselines per database group or application tier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&amp; IMPACT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a baseline after initial security hardening. Use Data Safe comparison reports to detect drift from baseline. Reset baseline only after approved, reviewed changes.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if not chosen: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way to distinguish intentional changes from security drift. Every assessment shows same known issues. Cannot demonstrate compliance improvement over time.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&amp; REFERENCES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 Security Assessment Baselines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DBSAT Assessment</a:t>
            </a:r>
            <a:endParaRPr lang="en-US" sz="8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2B5C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731520" y="2560320"/>
            <a:ext cx="6400800" cy="0"/>
          </a:xfrm>
          <a:prstGeom prst="line">
            <a:avLst/>
          </a:prstGeom>
          <a:noFill/>
          <a:ln w="38100">
            <a:solidFill>
              <a:srgbClr val="4A90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7432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Recommendations</a:t>
            </a:r>
            <a:endParaRPr lang="en-US" sz="2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Recommendations  |  DD-32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4069080" cy="1600200"/>
          </a:xfrm>
          <a:prstGeom prst="rect">
            <a:avLst/>
          </a:prstGeom>
          <a:solidFill>
            <a:srgbClr val="D6E8F7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Adopting Oracle Maximum Security Architecture (MSA)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what extent should Oracle MSA be followed for the Data Safe implementation?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502920"/>
            <a:ext cx="4069080" cy="160020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Full MSA adoption (all security layers and controls)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Partial MSA with Data Safe features as primary tooling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Minimum viable security — Data Safe assessment + auditing only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&amp; IMPACT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 Data Safe as part of a broader Oracle MSA strategy. Use Security Assessment recommendations based on CIS and STIG benchmarks. Leverage all Data Safe features as MSA components.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if not chosen: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security posture. Missing defense-in-depth layers. Security assessment findings may recommend controls outside of Data Safe scope (Database Vault, Audit Vault, etc.).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&amp; REFERENCES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 Oracle MSA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Data Safe Best Practices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3. Data Safe Technical Architecture</a:t>
            </a:r>
            <a:endParaRPr lang="en-US" sz="8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2B5C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731520" y="2560320"/>
            <a:ext cx="6400800" cy="0"/>
          </a:xfrm>
          <a:prstGeom prst="line">
            <a:avLst/>
          </a:prstGeom>
          <a:noFill/>
          <a:ln w="38100">
            <a:solidFill>
              <a:srgbClr val="4A90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7432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Infrastructure Components</a:t>
            </a:r>
            <a:endParaRPr lang="en-US" sz="2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Infrastructure  |  DD-33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4069080" cy="1600200"/>
          </a:xfrm>
          <a:prstGeom prst="rect">
            <a:avLst/>
          </a:prstGeom>
          <a:solidFill>
            <a:srgbClr val="D6E8F7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On-Premises Connector Host (Fallback Connectivity)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private endpoint connectivity is not feasible, where should the on-premises connector be deployed?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502920"/>
            <a:ext cx="4069080" cy="160020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576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0" y="8229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Dedicated Azure VM in the hub VNet (isolated management host)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Existing management/jumpbox VM in the hub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Container-based deployment on AKS (not officially supported)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&amp; IMPACT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on a dedicated management VM in the hub VNet if private endpoint is not feasible. One connector supports multiple target databases. Keep the agent patched and monitored.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if not chosen: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host increases blast radius if compromised. Container deployment is not officially supported by Oracle. Unpatched connector agent is a security liability.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2240280"/>
            <a:ext cx="40690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&amp; REFERENCES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5603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 On-Premises Connector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u="sng" dirty="0">
                <a:solidFill>
                  <a:srgbClr val="4A90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Data Safe Reference Architecture</a:t>
            </a:r>
            <a:endParaRPr lang="en-US" sz="8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of Key Decisions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design decisions across 17 categories identified for Oracle Data Safe implementation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decisions: Connectivity method (DD-04), IAM policies (DD-01), Feature scope (DD-14)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retention and volume management require early capacity planning (DD-17, DD-18)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 integration is essential for enterprise SOC alignment (DD-22, DD-29)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automation prevents configuration drift across environments (DD-26)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masking should only target non-production environments with staging approach (DD-25)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Firewall adoption depends on Oracle Database 23ai availability (DD-09)</a:t>
            </a:r>
            <a:endParaRPr lang="en-US" sz="15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and prioritize design decisions with stakeholders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connectivity path between Data Safe and Oracle Database@Azure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OCI compartment structure and IAM policies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Terraform modules for Data Safe resource provisioning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phased database registration starting with non-production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SIEM integration architecture (OCI Events → Streaming → Sentinel)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security assessment baselines after initial hardening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audit policies, retention periods, and volume budgets</a:t>
            </a:r>
            <a:endParaRPr lang="en-US" sz="15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834640"/>
            <a:ext cx="2743200" cy="0"/>
          </a:xfrm>
          <a:prstGeom prst="line">
            <a:avLst/>
          </a:prstGeom>
          <a:noFill/>
          <a:ln w="38100">
            <a:solidFill>
              <a:srgbClr val="4A90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0175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Data Safe – Design Decisions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Workshop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58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Oracle Data Safe – Design Decisions for Oracle Database @ Azure</dc:title>
  <dc:subject>PptxGenJS Presentation</dc:subject>
  <dc:creator>Architecture Workshop</dc:creator>
  <cp:lastModifiedBy>Architecture Workshop</cp:lastModifiedBy>
  <cp:revision>1</cp:revision>
  <dcterms:created xsi:type="dcterms:W3CDTF">2026-04-08T12:17:02Z</dcterms:created>
  <dcterms:modified xsi:type="dcterms:W3CDTF">2026-04-08T12:17:02Z</dcterms:modified>
</cp:coreProperties>
</file>